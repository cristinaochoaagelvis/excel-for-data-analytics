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" r:id="rId6"/>
    <p:sldId id="261" r:id="rId7"/>
    <p:sldId id="259" r:id="rId8"/>
    <p:sldId id="260" r:id="rId9"/>
    <p:sldId id="262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4" autoAdjust="0"/>
    <p:restoredTop sz="93065" autoAdjust="0"/>
  </p:normalViewPr>
  <p:slideViewPr>
    <p:cSldViewPr snapToGrid="0" showGuides="1">
      <p:cViewPr varScale="1">
        <p:scale>
          <a:sx n="67" d="100"/>
          <a:sy n="67" d="100"/>
        </p:scale>
        <p:origin x="10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75" d="100"/>
          <a:sy n="75" d="100"/>
        </p:scale>
        <p:origin x="4092" y="51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2_Grupo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Semana3%20PUNTO3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Semana3_Grupo6%20TABLA%20DINAMICA%20PUNTO%20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2_Grupo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3_Grupo6%20TablaDinamica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de Ventas</a:t>
            </a:r>
            <a:r>
              <a:rPr lang="en-US" baseline="0"/>
              <a:t> por Región de tienda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FE-4146-9A9B-92279A8DFD7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6FE-4146-9A9B-92279A8DFD7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6FE-4146-9A9B-92279A8DFD7E}"/>
              </c:ext>
            </c:extLst>
          </c:dPt>
          <c:cat>
            <c:strRef>
              <c:f>'Gráfico y tabla'!$A$5:$A$7</c:f>
              <c:strCache>
                <c:ptCount val="3"/>
                <c:pt idx="0">
                  <c:v>Alentejo</c:v>
                </c:pt>
                <c:pt idx="1">
                  <c:v>Algarve</c:v>
                </c:pt>
                <c:pt idx="2">
                  <c:v>Centro</c:v>
                </c:pt>
              </c:strCache>
            </c:strRef>
          </c:cat>
          <c:val>
            <c:numRef>
              <c:f>'Gráfico y tabla'!$B$5:$B$7</c:f>
              <c:numCache>
                <c:formatCode>"$"#,##0.00</c:formatCode>
                <c:ptCount val="3"/>
                <c:pt idx="0">
                  <c:v>101209080.73000012</c:v>
                </c:pt>
                <c:pt idx="1">
                  <c:v>100688213.22000006</c:v>
                </c:pt>
                <c:pt idx="2">
                  <c:v>301283095.93999916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FE-4146-9A9B-92279A8DF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8120256"/>
        <c:axId val="958121696"/>
      </c:barChart>
      <c:catAx>
        <c:axId val="9581202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Región</a:t>
                </a:r>
              </a:p>
            </c:rich>
          </c:tx>
          <c:layout>
            <c:manualLayout>
              <c:xMode val="edge"/>
              <c:yMode val="edge"/>
              <c:x val="0.51701968503937012"/>
              <c:y val="0.878680373286672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958121696"/>
        <c:crosses val="autoZero"/>
        <c:auto val="1"/>
        <c:lblAlgn val="ctr"/>
        <c:lblOffset val="100"/>
        <c:noMultiLvlLbl val="0"/>
      </c:catAx>
      <c:valAx>
        <c:axId val="95812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de ventas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958120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 dirty="0"/>
              <a:t>VENTAS TOTALES POR AÑO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lotArea>
      <c:layout>
        <c:manualLayout>
          <c:layoutTarget val="inner"/>
          <c:xMode val="edge"/>
          <c:yMode val="edge"/>
          <c:x val="0.21910629921259839"/>
          <c:y val="0.2683867716535433"/>
          <c:w val="0.76244116360454939"/>
          <c:h val="0.50727013123359577"/>
        </c:manualLayout>
      </c:layout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'PUNTO 3'!$A$4:$A$14</c:f>
              <c:numCache>
                <c:formatCode>General</c:formatCod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numCache>
            </c:numRef>
          </c:cat>
          <c:val>
            <c:numRef>
              <c:f>'PUNTO 3'!$A$4:$A$14</c:f>
              <c:numCache>
                <c:formatCode>General</c:formatCod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C5-40EB-AD45-C50E575CEA9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'PUNTO 3'!$A$4:$A$14</c:f>
              <c:numCache>
                <c:formatCode>General</c:formatCod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numCache>
            </c:numRef>
          </c:cat>
          <c:val>
            <c:numRef>
              <c:f>'PUNTO 3'!$B$4:$B$14</c:f>
              <c:numCache>
                <c:formatCode>"$"#,##0.00</c:formatCode>
                <c:ptCount val="11"/>
                <c:pt idx="0">
                  <c:v>44134030.019999973</c:v>
                </c:pt>
                <c:pt idx="1">
                  <c:v>44554693.449999988</c:v>
                </c:pt>
                <c:pt idx="2">
                  <c:v>43877050.339999989</c:v>
                </c:pt>
                <c:pt idx="3">
                  <c:v>46174147.550000057</c:v>
                </c:pt>
                <c:pt idx="4">
                  <c:v>50181992.170000002</c:v>
                </c:pt>
                <c:pt idx="5">
                  <c:v>45141237.029999979</c:v>
                </c:pt>
                <c:pt idx="6">
                  <c:v>46500955.659999922</c:v>
                </c:pt>
                <c:pt idx="7">
                  <c:v>47147000.859999985</c:v>
                </c:pt>
                <c:pt idx="8">
                  <c:v>44970148.919999942</c:v>
                </c:pt>
                <c:pt idx="9">
                  <c:v>44125029.820000023</c:v>
                </c:pt>
                <c:pt idx="10">
                  <c:v>46374104.069999918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C5-40EB-AD45-C50E575CE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490688"/>
        <c:axId val="1365488192"/>
      </c:lineChart>
      <c:catAx>
        <c:axId val="1365490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365488192"/>
        <c:crosses val="autoZero"/>
        <c:auto val="1"/>
        <c:lblAlgn val="ctr"/>
        <c:lblOffset val="100"/>
        <c:noMultiLvlLbl val="0"/>
      </c:catAx>
      <c:valAx>
        <c:axId val="1365488192"/>
        <c:scaling>
          <c:orientation val="minMax"/>
          <c:min val="4000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365490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[Semana3_Grupo6 TABLA DINAMICA PUNTO 5.xlsx]Tabla dinámica 5!TablaDinámica4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clientes con mayor total de compras en tiendas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'Tabla dinámica 5'!$C$2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'Tabla dinámica 5'!$B$3:$B$13</c:f>
              <c:strCache>
                <c:ptCount val="10"/>
                <c:pt idx="0">
                  <c:v>Brian Melo</c:v>
                </c:pt>
                <c:pt idx="1">
                  <c:v>Sebastião Garcia</c:v>
                </c:pt>
                <c:pt idx="2">
                  <c:v>Luís Silva</c:v>
                </c:pt>
                <c:pt idx="3">
                  <c:v>Gustavo Lopes</c:v>
                </c:pt>
                <c:pt idx="4">
                  <c:v>Ema Matos</c:v>
                </c:pt>
                <c:pt idx="5">
                  <c:v>Salvador Assunção</c:v>
                </c:pt>
                <c:pt idx="6">
                  <c:v>Noa de Lima</c:v>
                </c:pt>
                <c:pt idx="7">
                  <c:v>Martim Leite</c:v>
                </c:pt>
                <c:pt idx="8">
                  <c:v>Carlos Nascimento</c:v>
                </c:pt>
                <c:pt idx="9">
                  <c:v>Andreia Costa</c:v>
                </c:pt>
              </c:strCache>
            </c:strRef>
          </c:cat>
          <c:val>
            <c:numRef>
              <c:f>'Tabla dinámica 5'!$C$3:$C$13</c:f>
              <c:numCache>
                <c:formatCode>"$"#,##0.00</c:formatCode>
                <c:ptCount val="10"/>
                <c:pt idx="0">
                  <c:v>172410</c:v>
                </c:pt>
                <c:pt idx="1">
                  <c:v>150598</c:v>
                </c:pt>
                <c:pt idx="2">
                  <c:v>135423</c:v>
                </c:pt>
                <c:pt idx="3">
                  <c:v>134845</c:v>
                </c:pt>
                <c:pt idx="4">
                  <c:v>131230</c:v>
                </c:pt>
                <c:pt idx="5">
                  <c:v>120430</c:v>
                </c:pt>
                <c:pt idx="6">
                  <c:v>99866</c:v>
                </c:pt>
                <c:pt idx="7">
                  <c:v>99712</c:v>
                </c:pt>
                <c:pt idx="8">
                  <c:v>99569</c:v>
                </c:pt>
                <c:pt idx="9">
                  <c:v>99501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AA-48D1-AAD6-B218955004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50778816"/>
        <c:axId val="50783616"/>
      </c:barChart>
      <c:catAx>
        <c:axId val="50778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50783616"/>
        <c:crosses val="autoZero"/>
        <c:auto val="1"/>
        <c:lblAlgn val="ctr"/>
        <c:lblOffset val="100"/>
        <c:noMultiLvlLbl val="0"/>
      </c:catAx>
      <c:valAx>
        <c:axId val="5078361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50778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Hoja1!$A$4</c:f>
              <c:strCache>
                <c:ptCount val="1"/>
                <c:pt idx="0">
                  <c:v>Motivo de devoluciones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19-4C2E-A14D-99428B71E6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19-4C2E-A14D-99428B71E66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19-4C2E-A14D-99428B71E66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19-4C2E-A14D-99428B71E66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E19-4C2E-A14D-99428B71E66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E19-4C2E-A14D-99428B71E66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E19-4C2E-A14D-99428B71E66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E19-4C2E-A14D-99428B71E66B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19-4C2E-A14D-99428B71E66B}"/>
                </c:ext>
              </c:extLst>
            </c:dLbl>
            <c:dLbl>
              <c:idx val="1"/>
              <c:layout>
                <c:manualLayout>
                  <c:x val="-2.7566819772528433E-2"/>
                  <c:y val="1.15135608048993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9875109361329823E-2"/>
                      <c:h val="7.40048118985126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E19-4C2E-A14D-99428B71E66B}"/>
                </c:ext>
              </c:extLst>
            </c:dLbl>
            <c:dLbl>
              <c:idx val="2"/>
              <c:layout>
                <c:manualLayout>
                  <c:x val="-5.0069991251093611E-3"/>
                  <c:y val="2.176071741032375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19-4C2E-A14D-99428B71E66B}"/>
                </c:ext>
              </c:extLst>
            </c:dLbl>
            <c:dLbl>
              <c:idx val="3"/>
              <c:layout>
                <c:manualLayout>
                  <c:x val="-3.2040573053368326E-2"/>
                  <c:y val="1.443205016039661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19-4C2E-A14D-99428B71E66B}"/>
                </c:ext>
              </c:extLst>
            </c:dLbl>
            <c:dLbl>
              <c:idx val="4"/>
              <c:layout>
                <c:manualLayout>
                  <c:x val="2.2209755030621173E-2"/>
                  <c:y val="-1.094378827646544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19-4C2E-A14D-99428B71E66B}"/>
                </c:ext>
              </c:extLst>
            </c:dLbl>
            <c:dLbl>
              <c:idx val="5"/>
              <c:layout>
                <c:manualLayout>
                  <c:x val="7.5732720909886262E-3"/>
                  <c:y val="-6.76655001458151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19-4C2E-A14D-99428B71E66B}"/>
                </c:ext>
              </c:extLst>
            </c:dLbl>
            <c:dLbl>
              <c:idx val="6"/>
              <c:layout>
                <c:manualLayout>
                  <c:x val="2.4339457567804025E-3"/>
                  <c:y val="6.3998250218722233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19-4C2E-A14D-99428B71E66B}"/>
                </c:ext>
              </c:extLst>
            </c:dLbl>
            <c:dLbl>
              <c:idx val="7"/>
              <c:layout>
                <c:manualLayout>
                  <c:x val="1.5765091863517062E-2"/>
                  <c:y val="1.708843686205890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E19-4C2E-A14D-99428B71E6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Hoja1!$A$5:$A$12</c:f>
              <c:strCache>
                <c:ptCount val="8"/>
                <c:pt idx="0">
                  <c:v>Motivo</c:v>
                </c:pt>
                <c:pt idx="1">
                  <c:v>Expectativa não atendida</c:v>
                </c:pt>
                <c:pt idx="2">
                  <c:v>Defeito no Produto</c:v>
                </c:pt>
                <c:pt idx="3">
                  <c:v>Troca</c:v>
                </c:pt>
                <c:pt idx="4">
                  <c:v>Tamanho Inadequado</c:v>
                </c:pt>
                <c:pt idx="5">
                  <c:v>Outros</c:v>
                </c:pt>
                <c:pt idx="6">
                  <c:v>Arrependimento</c:v>
                </c:pt>
                <c:pt idx="7">
                  <c:v>Desistência</c:v>
                </c:pt>
              </c:strCache>
            </c:strRef>
          </c:cat>
          <c:val>
            <c:numRef>
              <c:f>Hoja1!$B$5:$B$12</c:f>
              <c:numCache>
                <c:formatCode>0</c:formatCode>
                <c:ptCount val="8"/>
                <c:pt idx="0" formatCode="General">
                  <c:v>0</c:v>
                </c:pt>
                <c:pt idx="1">
                  <c:v>153</c:v>
                </c:pt>
                <c:pt idx="2">
                  <c:v>141</c:v>
                </c:pt>
                <c:pt idx="3">
                  <c:v>142</c:v>
                </c:pt>
                <c:pt idx="4">
                  <c:v>159</c:v>
                </c:pt>
                <c:pt idx="5">
                  <c:v>125</c:v>
                </c:pt>
                <c:pt idx="6">
                  <c:v>141</c:v>
                </c:pt>
                <c:pt idx="7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E19-4C2E-A14D-99428B71E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</c:chart>
  <c:spPr>
    <a:solidFill>
      <a:srgbClr val="FDEFE7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[Semana3_Grupo6 TablaDinamica5.xlsx]TablaDinamica6!TablaDinámica1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/>
              <a:t>Productos</a:t>
            </a:r>
            <a:r>
              <a:rPr lang="es-EC" baseline="0"/>
              <a:t> más devueltos</a:t>
            </a:r>
            <a:endParaRPr lang="es-EC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ivotFmts>
      <c:pivotFmt>
        <c:idx val="0"/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TablaDinamica6!$C$6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TablaDinamica6!$B$7:$B$12</c:f>
              <c:strCache>
                <c:ptCount val="5"/>
                <c:pt idx="0">
                  <c:v>Accusantium</c:v>
                </c:pt>
                <c:pt idx="1">
                  <c:v>Eius</c:v>
                </c:pt>
                <c:pt idx="2">
                  <c:v>Modi</c:v>
                </c:pt>
                <c:pt idx="3">
                  <c:v>Nulla</c:v>
                </c:pt>
                <c:pt idx="4">
                  <c:v>Voluptatibus</c:v>
                </c:pt>
              </c:strCache>
            </c:strRef>
          </c:cat>
          <c:val>
            <c:numRef>
              <c:f>TablaDinamica6!$C$7:$C$12</c:f>
              <c:numCache>
                <c:formatCode>General</c:formatCode>
                <c:ptCount val="5"/>
                <c:pt idx="0">
                  <c:v>80</c:v>
                </c:pt>
                <c:pt idx="1">
                  <c:v>90</c:v>
                </c:pt>
                <c:pt idx="2">
                  <c:v>141</c:v>
                </c:pt>
                <c:pt idx="3">
                  <c:v>75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D8-408C-888B-360696284A9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936260767"/>
        <c:axId val="936262847"/>
      </c:barChart>
      <c:catAx>
        <c:axId val="936260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936262847"/>
        <c:crosses val="autoZero"/>
        <c:auto val="1"/>
        <c:lblAlgn val="ctr"/>
        <c:lblOffset val="100"/>
        <c:noMultiLvlLbl val="0"/>
      </c:catAx>
      <c:valAx>
        <c:axId val="936262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3626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690DC06B-AB08-4449-BBF2-D264D52BB5AA}" type="datetime1">
              <a:rPr lang="es-ES" smtClean="0"/>
              <a:pPr algn="r" rtl="0"/>
              <a:t>22/08/2025</a:t>
            </a:fld>
            <a:r>
              <a:rPr lang="es-ES" dirty="0"/>
              <a:t>​</a:t>
            </a: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/>
            <a:fld id="{093B6963-495A-4FE1-8B7F-59E549A2EEB6}" type="datetime1">
              <a:rPr lang="es-ES" smtClean="0"/>
              <a:pPr algn="r"/>
              <a:t>22/08/2025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Haga clic para modificar el estilo de texto del patrón</a:t>
            </a:r>
          </a:p>
          <a:p>
            <a:pPr lvl="1" rtl="0"/>
            <a:r>
              <a:t>Segundo nivel</a:t>
            </a:r>
          </a:p>
          <a:p>
            <a:pPr lvl="2" rtl="0"/>
            <a:r>
              <a:t>Tercer nivel</a:t>
            </a:r>
          </a:p>
          <a:p>
            <a:pPr lvl="3" rtl="0"/>
            <a:r>
              <a:t>Cuarto nivel</a:t>
            </a:r>
          </a:p>
          <a:p>
            <a:pPr lvl="4" rtl="0"/>
            <a:r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0A3C37BE-C303-496D-B5CD-85F2937540FC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0A3C37BE-C303-496D-B5CD-85F2937540FC}" type="slidenum">
              <a:rPr lang="es-ES" smtClean="0"/>
              <a:pPr algn="r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9917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0A3C37BE-C303-496D-B5CD-85F2937540FC}" type="slidenum">
              <a:rPr lang="es-ES" smtClean="0"/>
              <a:pPr algn="r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8072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0A3C37BE-C303-496D-B5CD-85F2937540FC}" type="slidenum">
              <a:rPr lang="es-ES" smtClean="0"/>
              <a:pPr algn="r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428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0A3C37BE-C303-496D-B5CD-85F2937540FC}" type="slidenum">
              <a:rPr lang="es-ES" smtClean="0"/>
              <a:pPr algn="r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57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934A2FF8-4559-4149-8B79-D85ED6F0B853}" type="datetime1">
              <a:rPr lang="es-ES" smtClean="0"/>
              <a:pPr/>
              <a:t>22/08/2025</a:t>
            </a:fld>
            <a:r>
              <a:rPr lang="es-ES" dirty="0"/>
              <a:t>​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74F43DC-6EDA-4D74-8B4D-EE036F982A34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/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  <a:endParaRPr lang="es-ES" noProof="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Marcador de posición de imagen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exto de instrucciones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s-ES" sz="1200" b="1" i="1" noProof="0" dirty="0">
                <a:latin typeface="Arial" pitchFamily="34" charset="0"/>
                <a:cs typeface="Arial" pitchFamily="34" charset="0"/>
              </a:rPr>
              <a:t>NOTA:</a:t>
            </a:r>
          </a:p>
          <a:p>
            <a:pPr rtl="0"/>
            <a:r>
              <a:rPr lang="es-ES" sz="1200" i="1" noProof="0" dirty="0"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ector rec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ángu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grpSp>
          <p:nvGrpSpPr>
            <p:cNvPr id="11" name="Gru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ector rec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385DCDB-4A77-4170-9E07-5F1D7C0A0A5B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3C6D8C4-ADF9-42A1-9ABC-C61A9E9D2D08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5B79CF11-FD05-4F88-8EC3-5D4F176B79FC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FEAFC309-1B63-44A4-A9FC-29FA1501E26B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7850802-155D-414A-A9FD-662B6F0E4656}" type="datetime1">
              <a:rPr lang="es-ES" smtClean="0"/>
              <a:pPr/>
              <a:t>22/08/2025</a:t>
            </a:fld>
            <a:r>
              <a:rPr lang="es-ES" dirty="0"/>
              <a:t>​</a:t>
            </a: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5146D9C0-42AF-411F-B87E-5CF0AD6A3E2D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99FE88BC-BA9C-41DB-8175-8FC1D1B95355}" type="datetime1">
              <a:rPr lang="es-ES" smtClean="0"/>
              <a:pPr/>
              <a:t>22/08/2025</a:t>
            </a:fld>
            <a:r>
              <a:rPr lang="es-ES" dirty="0"/>
              <a:t>​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7776A268-E945-41BF-9F85-D7A3B8400346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/>
              <a:t>​</a:t>
            </a:r>
            <a:fld id="{CEC05348-D021-422A-8D9F-89EEB8C0F442}" type="datetime1">
              <a:rPr lang="es-ES" smtClean="0"/>
              <a:pPr/>
              <a:t>22/08/2025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/>
              <a:pPr algn="r"/>
              <a:t>‹Nº›</a:t>
            </a:fld>
            <a:endParaRPr lang="es-ES" dirty="0"/>
          </a:p>
        </p:txBody>
      </p:sp>
      <p:grpSp>
        <p:nvGrpSpPr>
          <p:cNvPr id="7" name="Gru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ector rec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  <a:p>
            <a:pPr lvl="5" rtl="0"/>
            <a:r>
              <a:rPr lang="es-ES" noProof="0" dirty="0"/>
              <a:t>Sexto nivel</a:t>
            </a:r>
          </a:p>
          <a:p>
            <a:pPr lvl="6" rtl="0"/>
            <a:r>
              <a:rPr lang="es-ES" noProof="0" dirty="0"/>
              <a:t>Séptimo nivel</a:t>
            </a:r>
          </a:p>
          <a:p>
            <a:pPr lvl="7" rtl="0"/>
            <a:r>
              <a:rPr lang="es-ES" noProof="0" dirty="0"/>
              <a:t>Octavo nivel</a:t>
            </a:r>
          </a:p>
          <a:p>
            <a:pPr lvl="8" rtl="0"/>
            <a:r>
              <a:rPr lang="es-ES" noProof="0" dirty="0"/>
              <a:t>Noveno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EB0EBC17-0101-4DBA-89EA-55E7A4727CA3}" type="datetime1">
              <a:rPr lang="es-ES" noProof="0" smtClean="0"/>
              <a:pPr/>
              <a:t>22/08/2025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algn="r"/>
            <a:fld id="{0FF54DE5-C571-48E8-A5BC-B369434E2F44}" type="slidenum">
              <a:rPr lang="es-ES" noProof="0" smtClean="0"/>
              <a:pPr algn="r"/>
              <a:t>‹Nº›</a:t>
            </a:fld>
            <a:endParaRPr lang="es-ES" noProof="0" dirty="0"/>
          </a:p>
        </p:txBody>
      </p:sp>
      <p:grpSp>
        <p:nvGrpSpPr>
          <p:cNvPr id="15" name="Gru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ector rec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demiatalaya.com/2011/01/el-supermercado-del-futuro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>
          <a:xfrm>
            <a:off x="1396447" y="2186076"/>
            <a:ext cx="9936139" cy="2219691"/>
          </a:xfrm>
        </p:spPr>
        <p:txBody>
          <a:bodyPr rtlCol="0" anchor="ctr"/>
          <a:lstStyle/>
          <a:p>
            <a:pPr algn="ctr" rtl="0">
              <a:lnSpc>
                <a:spcPct val="150000"/>
              </a:lnSpc>
            </a:pPr>
            <a:r>
              <a:rPr lang="es-ES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Retail</a:t>
            </a:r>
            <a:r>
              <a:rPr lang="es-ES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</a:t>
            </a:r>
            <a:r>
              <a:rPr lang="es-ES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intelligense</a:t>
            </a:r>
            <a:br>
              <a:rPr lang="es-ES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sz="16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grupo 6</a:t>
            </a:r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>
          <a:xfrm>
            <a:off x="190519" y="6004558"/>
            <a:ext cx="2118730" cy="551224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es-ES" sz="1400" b="1" dirty="0">
                <a:solidFill>
                  <a:schemeClr val="bg1"/>
                </a:solidFill>
              </a:rPr>
              <a:t>Cristina Ochoa Agelvis</a:t>
            </a:r>
          </a:p>
          <a:p>
            <a:pPr>
              <a:lnSpc>
                <a:spcPct val="100000"/>
              </a:lnSpc>
            </a:pPr>
            <a:r>
              <a:rPr lang="es-ES" sz="1400" b="1" dirty="0">
                <a:solidFill>
                  <a:schemeClr val="bg1"/>
                </a:solidFill>
              </a:rPr>
              <a:t>Ivette Muñoz Mina</a:t>
            </a:r>
          </a:p>
          <a:p>
            <a:pPr algn="ctr" rtl="0"/>
            <a:endParaRPr lang="es-ES" dirty="0"/>
          </a:p>
        </p:txBody>
      </p:sp>
      <p:sp>
        <p:nvSpPr>
          <p:cNvPr id="8" name="Subtítulo 6"/>
          <p:cNvSpPr txBox="1">
            <a:spLocks/>
          </p:cNvSpPr>
          <p:nvPr/>
        </p:nvSpPr>
        <p:spPr>
          <a:xfrm>
            <a:off x="2452199" y="6004037"/>
            <a:ext cx="3375164" cy="69071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" sz="1400" b="1" dirty="0">
                <a:solidFill>
                  <a:schemeClr val="bg1"/>
                </a:solidFill>
              </a:rPr>
              <a:t>Alexis Obregón Flores</a:t>
            </a:r>
          </a:p>
          <a:p>
            <a:pPr>
              <a:lnSpc>
                <a:spcPct val="100000"/>
              </a:lnSpc>
            </a:pPr>
            <a:r>
              <a:rPr lang="es-ES" sz="1400" b="1" dirty="0">
                <a:solidFill>
                  <a:schemeClr val="bg1"/>
                </a:solidFill>
              </a:rPr>
              <a:t>Julio Moreno </a:t>
            </a:r>
            <a:r>
              <a:rPr lang="es-ES" sz="1400" b="1" dirty="0" err="1">
                <a:solidFill>
                  <a:schemeClr val="bg1"/>
                </a:solidFill>
              </a:rPr>
              <a:t>Sanchez</a:t>
            </a:r>
            <a:endParaRPr lang="es-ES" sz="1400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s-ES" sz="1400" b="1" dirty="0">
                <a:solidFill>
                  <a:schemeClr val="bg1"/>
                </a:solidFill>
              </a:rPr>
              <a:t>Eduardo de </a:t>
            </a:r>
            <a:r>
              <a:rPr lang="es-ES" sz="1400" b="1" dirty="0" err="1">
                <a:solidFill>
                  <a:schemeClr val="bg1"/>
                </a:solidFill>
              </a:rPr>
              <a:t>Jesus</a:t>
            </a:r>
            <a:r>
              <a:rPr lang="es-ES" sz="1400" b="1" dirty="0">
                <a:solidFill>
                  <a:schemeClr val="bg1"/>
                </a:solidFill>
              </a:rPr>
              <a:t> Montenegro </a:t>
            </a:r>
            <a:r>
              <a:rPr lang="es-ES" sz="1400" b="1" dirty="0" err="1">
                <a:solidFill>
                  <a:schemeClr val="bg1"/>
                </a:solidFill>
              </a:rPr>
              <a:t>Rendon</a:t>
            </a:r>
            <a:endParaRPr lang="es-ES" sz="1400" b="1" dirty="0">
              <a:solidFill>
                <a:schemeClr val="bg1"/>
              </a:solidFill>
            </a:endParaRP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5659" y="183777"/>
            <a:ext cx="9980682" cy="1096962"/>
          </a:xfrm>
        </p:spPr>
        <p:txBody>
          <a:bodyPr rtlCol="0"/>
          <a:lstStyle/>
          <a:p>
            <a:pPr rtl="0"/>
            <a:r>
              <a:rPr lang="es-ES" dirty="0"/>
              <a:t>Gráficos de ventas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C8DB0FA-959C-4AE0-A278-5213178D6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88778"/>
              </p:ext>
            </p:extLst>
          </p:nvPr>
        </p:nvGraphicFramePr>
        <p:xfrm>
          <a:off x="860612" y="1438835"/>
          <a:ext cx="4800600" cy="1788459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1671109">
                  <a:extLst>
                    <a:ext uri="{9D8B030D-6E8A-4147-A177-3AD203B41FA5}">
                      <a16:colId xmlns:a16="http://schemas.microsoft.com/office/drawing/2014/main" val="1208197012"/>
                    </a:ext>
                  </a:extLst>
                </a:gridCol>
                <a:gridCol w="3129491">
                  <a:extLst>
                    <a:ext uri="{9D8B030D-6E8A-4147-A177-3AD203B41FA5}">
                      <a16:colId xmlns:a16="http://schemas.microsoft.com/office/drawing/2014/main" val="1596263722"/>
                    </a:ext>
                  </a:extLst>
                </a:gridCol>
              </a:tblGrid>
              <a:tr h="43013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400" dirty="0">
                          <a:effectLst/>
                        </a:rPr>
                        <a:t>Total de ventas por región</a:t>
                      </a:r>
                      <a:endParaRPr lang="es-EC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013693"/>
                  </a:ext>
                </a:extLst>
              </a:tr>
              <a:tr h="452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Alentejo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$101.209.080,73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449687"/>
                  </a:ext>
                </a:extLst>
              </a:tr>
              <a:tr h="452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Algarve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$100.688.213,22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483297"/>
                  </a:ext>
                </a:extLst>
              </a:tr>
              <a:tr h="452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Centro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$301.283.095,94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795058"/>
                  </a:ext>
                </a:extLst>
              </a:tr>
            </a:tbl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EF32061-6A6F-0AE6-9C85-D60DD935C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123469"/>
              </p:ext>
            </p:extLst>
          </p:nvPr>
        </p:nvGraphicFramePr>
        <p:xfrm>
          <a:off x="6387715" y="1389763"/>
          <a:ext cx="5155430" cy="2568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46EEF85-6AFC-428A-A931-310DD3963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06545"/>
              </p:ext>
            </p:extLst>
          </p:nvPr>
        </p:nvGraphicFramePr>
        <p:xfrm>
          <a:off x="1428750" y="3630707"/>
          <a:ext cx="3240741" cy="270242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568100">
                  <a:extLst>
                    <a:ext uri="{9D8B030D-6E8A-4147-A177-3AD203B41FA5}">
                      <a16:colId xmlns:a16="http://schemas.microsoft.com/office/drawing/2014/main" val="3277496099"/>
                    </a:ext>
                  </a:extLst>
                </a:gridCol>
                <a:gridCol w="1672641">
                  <a:extLst>
                    <a:ext uri="{9D8B030D-6E8A-4147-A177-3AD203B41FA5}">
                      <a16:colId xmlns:a16="http://schemas.microsoft.com/office/drawing/2014/main" val="3337133820"/>
                    </a:ext>
                  </a:extLst>
                </a:gridCol>
              </a:tblGrid>
              <a:tr h="1816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AÑO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TOTAL LIMPIO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176400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2014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$44.134.030,02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129433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2015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$44.554.693,45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33144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2016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$43.877.050,34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815779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2017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$46.174.147,55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003128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2018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$50.181.992,17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260378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2019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$45.141.237,03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369794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2020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$46.500.955,66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093801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2021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$47.147.000,86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725577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2022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$44.970.148,92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505092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2023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$44.125.029,82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397527"/>
                  </a:ext>
                </a:extLst>
              </a:tr>
              <a:tr h="22916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2024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$46.374.104,07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395609"/>
                  </a:ext>
                </a:extLst>
              </a:tr>
            </a:tbl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91387C59-8973-4150-8097-E4E52EDE9F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482604"/>
              </p:ext>
            </p:extLst>
          </p:nvPr>
        </p:nvGraphicFramePr>
        <p:xfrm>
          <a:off x="5262463" y="3809110"/>
          <a:ext cx="4572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5659" y="183777"/>
            <a:ext cx="9980682" cy="1096962"/>
          </a:xfrm>
        </p:spPr>
        <p:txBody>
          <a:bodyPr rtlCol="0"/>
          <a:lstStyle/>
          <a:p>
            <a:pPr rtl="0"/>
            <a:r>
              <a:rPr lang="es-ES" dirty="0"/>
              <a:t>Gráficos de ventas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A7616EE-FC66-492C-BA5E-3EDAF41B7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227259"/>
              </p:ext>
            </p:extLst>
          </p:nvPr>
        </p:nvGraphicFramePr>
        <p:xfrm>
          <a:off x="1081765" y="1986912"/>
          <a:ext cx="3789070" cy="2884176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789070">
                  <a:extLst>
                    <a:ext uri="{9D8B030D-6E8A-4147-A177-3AD203B41FA5}">
                      <a16:colId xmlns:a16="http://schemas.microsoft.com/office/drawing/2014/main" val="1235942854"/>
                    </a:ext>
                  </a:extLst>
                </a:gridCol>
              </a:tblGrid>
              <a:tr h="240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  <a:latin typeface="Abadi" panose="020B0604020104020204" pitchFamily="34" charset="0"/>
                        </a:rPr>
                        <a:t>Suma de Total de Compras</a:t>
                      </a:r>
                      <a:endParaRPr lang="es-EC" sz="11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34042865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$172.410,00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310493689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$150.598,00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323309405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$135.423,00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983727973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$134.845,00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42061860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$131.230,00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0527439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$120.430,00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80484500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$99.866,00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26976853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$99.712,00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55894781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$99.569,00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392028494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$99.501,00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352597838"/>
                  </a:ext>
                </a:extLst>
              </a:tr>
              <a:tr h="24034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b="0" dirty="0">
                          <a:effectLst/>
                          <a:latin typeface="Abadi" panose="020B0604020104020204" pitchFamily="34" charset="0"/>
                        </a:rPr>
                        <a:t>$1.243.584,00</a:t>
                      </a:r>
                      <a:endParaRPr lang="es-EC" sz="1100" b="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223393589"/>
                  </a:ext>
                </a:extLst>
              </a:tr>
            </a:tbl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922EC2C-86FA-1382-1680-3FD1B5FA0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7319750"/>
              </p:ext>
            </p:extLst>
          </p:nvPr>
        </p:nvGraphicFramePr>
        <p:xfrm>
          <a:off x="5480275" y="2001205"/>
          <a:ext cx="5935438" cy="3413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3549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Gráficos de devoluciones o clientes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A938A24-BA28-4955-9397-027D7CB29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66621"/>
              </p:ext>
            </p:extLst>
          </p:nvPr>
        </p:nvGraphicFramePr>
        <p:xfrm>
          <a:off x="1104899" y="1498507"/>
          <a:ext cx="3346077" cy="2159091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737777">
                  <a:extLst>
                    <a:ext uri="{9D8B030D-6E8A-4147-A177-3AD203B41FA5}">
                      <a16:colId xmlns:a16="http://schemas.microsoft.com/office/drawing/2014/main" val="3041034355"/>
                    </a:ext>
                  </a:extLst>
                </a:gridCol>
                <a:gridCol w="608300">
                  <a:extLst>
                    <a:ext uri="{9D8B030D-6E8A-4147-A177-3AD203B41FA5}">
                      <a16:colId xmlns:a16="http://schemas.microsoft.com/office/drawing/2014/main" val="1586389306"/>
                    </a:ext>
                  </a:extLst>
                </a:gridCol>
              </a:tblGrid>
              <a:tr h="2398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Motivo de devoluciones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2424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Motivo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Total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5762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Expectativa não atendida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153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790504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Defeito no Produto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141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125278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Troca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142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246288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Tamanho Inadequado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159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107281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Outros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125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621220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Arrependimento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141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272497"/>
                  </a:ext>
                </a:extLst>
              </a:tr>
              <a:tr h="239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>
                          <a:effectLst/>
                        </a:rPr>
                        <a:t>Desistência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C" sz="1100" dirty="0">
                          <a:effectLst/>
                        </a:rPr>
                        <a:t>139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113655"/>
                  </a:ext>
                </a:extLst>
              </a:tr>
            </a:tbl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32EF7DC-73DE-4856-A2FA-49377EE4AC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7339041"/>
              </p:ext>
            </p:extLst>
          </p:nvPr>
        </p:nvGraphicFramePr>
        <p:xfrm>
          <a:off x="5455025" y="1369915"/>
          <a:ext cx="4846263" cy="2501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65002EB-F3EB-4E93-A183-7362826B5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117297"/>
              </p:ext>
            </p:extLst>
          </p:nvPr>
        </p:nvGraphicFramePr>
        <p:xfrm>
          <a:off x="1104898" y="4241708"/>
          <a:ext cx="4124327" cy="181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785">
                  <a:extLst>
                    <a:ext uri="{9D8B030D-6E8A-4147-A177-3AD203B41FA5}">
                      <a16:colId xmlns:a16="http://schemas.microsoft.com/office/drawing/2014/main" val="442426411"/>
                    </a:ext>
                  </a:extLst>
                </a:gridCol>
                <a:gridCol w="2150542">
                  <a:extLst>
                    <a:ext uri="{9D8B030D-6E8A-4147-A177-3AD203B41FA5}">
                      <a16:colId xmlns:a16="http://schemas.microsoft.com/office/drawing/2014/main" val="1188941118"/>
                    </a:ext>
                  </a:extLst>
                </a:gridCol>
              </a:tblGrid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 dirty="0">
                          <a:effectLst/>
                        </a:rPr>
                        <a:t>Nombre de productos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 dirty="0">
                          <a:effectLst/>
                        </a:rPr>
                        <a:t>Cantidad de devoluciones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0796370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Accusantium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>
                          <a:effectLst/>
                        </a:rPr>
                        <a:t>80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2423648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Eius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 dirty="0">
                          <a:effectLst/>
                        </a:rPr>
                        <a:t>90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4397563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Modi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 dirty="0">
                          <a:effectLst/>
                        </a:rPr>
                        <a:t>141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02178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Nulla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>
                          <a:effectLst/>
                        </a:rPr>
                        <a:t>75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0804923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Voluptatibus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 dirty="0">
                          <a:effectLst/>
                        </a:rPr>
                        <a:t>72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1881452"/>
                  </a:ext>
                </a:extLst>
              </a:tr>
              <a:tr h="259456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u="none" strike="noStrike">
                          <a:effectLst/>
                        </a:rPr>
                        <a:t>Total general</a:t>
                      </a:r>
                      <a:endParaRPr lang="es-EC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u="none" strike="noStrike" dirty="0">
                          <a:effectLst/>
                        </a:rPr>
                        <a:t>458</a:t>
                      </a:r>
                      <a:endParaRPr lang="es-EC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9013018"/>
                  </a:ext>
                </a:extLst>
              </a:tr>
            </a:tbl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000000-0008-0000-0B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134259"/>
              </p:ext>
            </p:extLst>
          </p:nvPr>
        </p:nvGraphicFramePr>
        <p:xfrm>
          <a:off x="5455026" y="398789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4570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7501" y="1456888"/>
            <a:ext cx="4276997" cy="686237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  <a:endParaRPr lang="es-EC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69876D-E557-4048-8CC2-31B67A6A1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33501" y="3857708"/>
            <a:ext cx="3662498" cy="203215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58B5EB2-69B8-4B14-9AB2-B7111E151E92}"/>
              </a:ext>
            </a:extLst>
          </p:cNvPr>
          <p:cNvSpPr txBox="1"/>
          <p:nvPr/>
        </p:nvSpPr>
        <p:spPr>
          <a:xfrm>
            <a:off x="1657350" y="2271712"/>
            <a:ext cx="8901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región centro fue la región con mayor total de ventas y el año 2018 fue el año con mayor total de ventas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motivo por el cual mayormente se devolvieron los productos fue porque no se cumplió con las expectativas del cliente y el producto más devuelto fue Modi. </a:t>
            </a:r>
            <a:endParaRPr lang="es-EC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3DDCA0-1321-42F0-8035-F0B82298F4C7}"/>
              </a:ext>
            </a:extLst>
          </p:cNvPr>
          <p:cNvSpPr txBox="1"/>
          <p:nvPr/>
        </p:nvSpPr>
        <p:spPr>
          <a:xfrm>
            <a:off x="709285" y="7525476"/>
            <a:ext cx="4686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900">
                <a:hlinkClick r:id="rId3" tooltip="https://www.desdemiatalaya.com/2011/01/el-supermercado-del-futuro.html"/>
              </a:rPr>
              <a:t>Esta foto</a:t>
            </a:r>
            <a:r>
              <a:rPr lang="es-EC" sz="900"/>
              <a:t> de Autor desconocido está bajo licencia </a:t>
            </a:r>
            <a:r>
              <a:rPr lang="es-EC" sz="900">
                <a:hlinkClick r:id="rId4" tooltip="https://creativecommons.org/licenses/by/3.0/"/>
              </a:rPr>
              <a:t>CC BY</a:t>
            </a:r>
            <a:endParaRPr lang="es-EC" sz="900"/>
          </a:p>
        </p:txBody>
      </p:sp>
      <p:pic>
        <p:nvPicPr>
          <p:cNvPr id="4098" name="Picture 2" descr="Animated Store | Motion design animation, Animation, Gif">
            <a:extLst>
              <a:ext uri="{FF2B5EF4-FFF2-40B4-BE49-F238E27FC236}">
                <a16:creationId xmlns:a16="http://schemas.microsoft.com/office/drawing/2014/main" id="{A0C6BE97-3678-4FB5-9E03-1B789384EB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3843180"/>
            <a:ext cx="2728912" cy="20466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54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7501" y="2914213"/>
            <a:ext cx="4276997" cy="686237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Gracias por su atención</a:t>
            </a:r>
            <a:endParaRPr lang="es-EC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1155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teratura académica 16 × 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74_TF03431380_TF03431380.potx" id="{9C759DF4-5D22-4947-AC84-0622EEA47A41}" vid="{3C637098-65C7-40E1-B206-DD97FD8DB6F6}"/>
    </a:ext>
  </a:extLst>
</a:theme>
</file>

<file path=ppt/theme/theme2.xml><?xml version="1.0" encoding="utf-8"?>
<a:theme xmlns:a="http://schemas.openxmlformats.org/drawingml/2006/main" name="Tema d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académica, diseño de rayas finas y cintas (panorámica)</Template>
  <TotalTime>0</TotalTime>
  <Words>262</Words>
  <Application>Microsoft Office PowerPoint</Application>
  <PresentationFormat>Panorámica</PresentationFormat>
  <Paragraphs>106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Abadi</vt:lpstr>
      <vt:lpstr>Aptos Narrow</vt:lpstr>
      <vt:lpstr>Arial</vt:lpstr>
      <vt:lpstr>Calibri</vt:lpstr>
      <vt:lpstr>Euphemia</vt:lpstr>
      <vt:lpstr>Plantagenet Cherokee</vt:lpstr>
      <vt:lpstr>Wingdings</vt:lpstr>
      <vt:lpstr>Literatura académica 16 × 9</vt:lpstr>
      <vt:lpstr>Retail business intelligense grupo 6</vt:lpstr>
      <vt:lpstr>Gráficos de ventas</vt:lpstr>
      <vt:lpstr>Gráficos de ventas</vt:lpstr>
      <vt:lpstr>Gráficos de devoluciones o clientes</vt:lpstr>
      <vt:lpstr>Insights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2025-08-22T13:56:19Z</dcterms:created>
  <dcterms:modified xsi:type="dcterms:W3CDTF">2025-08-22T20:40:50Z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